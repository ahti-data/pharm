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324" r:id="rId2"/>
  </p:sldIdLst>
  <p:sldSz cx="12192000" cy="6858000"/>
  <p:notesSz cx="6858000" cy="9144000"/>
  <p:custDataLst>
    <p:tags r:id="rId4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22047894302229"/>
          <c:y val="5.7777777777777775E-2"/>
          <c:w val="0.74318744838976047"/>
          <c:h val="0.8"/>
        </c:manualLayout>
      </c:layout>
      <c:scatterChart>
        <c:scatterStyle val="lineMarker"/>
        <c:varyColors val="0"/>
        <c:ser>
          <c:idx val="0"/>
          <c:order val="0"/>
          <c:spPr>
            <a:ln w="19050" cmpd="sng" algn="ctr">
              <a:solidFill>
                <a:schemeClr val="accent1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1633-4473-95EB-79CBADFB273F}"/>
              </c:ext>
            </c:extLst>
          </c:dPt>
          <c:dPt>
            <c:idx val="1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1633-4473-95EB-79CBADFB273F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1633-4473-95EB-79CBADFB273F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1633-4473-95EB-79CBADFB273F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chemeClr val="accent1"/>
                </a:solidFill>
                <a:ln w="9525" cmpd="sng" algn="ctr">
                  <a:solidFill>
                    <a:schemeClr val="accent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1633-4473-95EB-79CBADFB273F}"/>
              </c:ext>
            </c:extLst>
          </c:dPt>
          <c:xVal>
            <c:numRef>
              <c:f>Sheet1!$A$1:$E$1</c:f>
              <c:numCache>
                <c:formatCode>General</c:formatCod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</c:numCache>
            </c:numRef>
          </c:xVal>
          <c:yVal>
            <c:numRef>
              <c:f>Sheet1!$A$2:$E$2</c:f>
              <c:numCache>
                <c:formatCode>General</c:formatCode>
                <c:ptCount val="5"/>
                <c:pt idx="0">
                  <c:v>4.0999999999999996</c:v>
                </c:pt>
                <c:pt idx="1">
                  <c:v>5.3</c:v>
                </c:pt>
                <c:pt idx="2">
                  <c:v>3.2</c:v>
                </c:pt>
                <c:pt idx="3">
                  <c:v>4</c:v>
                </c:pt>
                <c:pt idx="4">
                  <c:v>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1633-4473-95EB-79CBADFB273F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none"/>
          </c:marker>
          <c:dPt>
            <c:idx val="0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1633-4473-95EB-79CBADFB273F}"/>
              </c:ext>
            </c:extLst>
          </c:dPt>
          <c:dPt>
            <c:idx val="1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1633-4473-95EB-79CBADFB273F}"/>
              </c:ext>
            </c:extLst>
          </c:dPt>
          <c:dPt>
            <c:idx val="2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1633-4473-95EB-79CBADFB273F}"/>
              </c:ext>
            </c:extLst>
          </c:dPt>
          <c:dPt>
            <c:idx val="3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1633-4473-95EB-79CBADFB273F}"/>
              </c:ext>
            </c:extLst>
          </c:dPt>
          <c:dPt>
            <c:idx val="4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1633-4473-95EB-79CBADFB273F}"/>
              </c:ext>
            </c:extLst>
          </c:dPt>
          <c:errBars>
            <c:errDir val="y"/>
            <c:errBarType val="plus"/>
            <c:errValType val="cust"/>
            <c:noEndCap val="1"/>
            <c:plus>
              <c:numRef>
                <c:f>Sheet1!$A$3:$E$3</c:f>
                <c:numCache>
                  <c:formatCode>General</c:formatCode>
                  <c:ptCount val="5"/>
                  <c:pt idx="0">
                    <c:v>2</c:v>
                  </c:pt>
                  <c:pt idx="1">
                    <c:v>2</c:v>
                  </c:pt>
                  <c:pt idx="2">
                    <c:v>2</c:v>
                  </c:pt>
                  <c:pt idx="3">
                    <c:v>2</c:v>
                  </c:pt>
                  <c:pt idx="4">
                    <c:v>2</c:v>
                  </c:pt>
                </c:numCache>
              </c:numRef>
            </c:plus>
            <c:spPr>
              <a:ln w="9525" cmpd="sng" algn="ctr">
                <a:solidFill>
                  <a:schemeClr val="tx1"/>
                </a:solidFill>
                <a:prstDash val="solid"/>
              </a:ln>
            </c:spPr>
          </c:errBars>
          <c:xVal>
            <c:numRef>
              <c:f>Sheet1!$A$1:$E$1</c:f>
              <c:numCache>
                <c:formatCode>General</c:formatCod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</c:numCache>
            </c:numRef>
          </c:xVal>
          <c:yVal>
            <c:numRef>
              <c:f>Sheet1!$A$4:$E$4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2</c:v>
                </c:pt>
                <c:pt idx="3">
                  <c:v>3</c:v>
                </c:pt>
                <c:pt idx="4">
                  <c:v>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B-1633-4473-95EB-79CBADFB273F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none"/>
          </c:marker>
          <c:dPt>
            <c:idx val="0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1633-4473-95EB-79CBADFB273F}"/>
              </c:ext>
            </c:extLst>
          </c:dPt>
          <c:dPt>
            <c:idx val="1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1633-4473-95EB-79CBADFB273F}"/>
              </c:ext>
            </c:extLst>
          </c:dPt>
          <c:dPt>
            <c:idx val="2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1633-4473-95EB-79CBADFB273F}"/>
              </c:ext>
            </c:extLst>
          </c:dPt>
          <c:dPt>
            <c:idx val="3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1633-4473-95EB-79CBADFB273F}"/>
              </c:ext>
            </c:extLst>
          </c:dPt>
          <c:dPt>
            <c:idx val="4"/>
            <c:marker>
              <c:symbol val="dash"/>
              <c:size val="6"/>
              <c:spPr>
                <a:solidFill>
                  <a:schemeClr val="tx1"/>
                </a:solidFill>
                <a:ln w="9525" cmpd="sng" algn="ctr">
                  <a:solidFill>
                    <a:schemeClr val="tx1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1633-4473-95EB-79CBADFB273F}"/>
              </c:ext>
            </c:extLst>
          </c:dPt>
          <c:xVal>
            <c:numRef>
              <c:f>Sheet1!$A$1:$E$1</c:f>
              <c:numCache>
                <c:formatCode>General</c:formatCod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</c:numCache>
            </c:numRef>
          </c:xVal>
          <c:yVal>
            <c:numRef>
              <c:f>Sheet1!$A$5:$E$5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4</c:v>
                </c:pt>
                <c:pt idx="3">
                  <c:v>5</c:v>
                </c:pt>
                <c:pt idx="4">
                  <c:v>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1-1633-4473-95EB-79CBADFB27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scatterChart>
        <c:scatterStyle val="lineMarker"/>
        <c:varyColors val="0"/>
        <c:ser>
          <c:idx val="3"/>
          <c:order val="3"/>
          <c:spPr>
            <a:ln w="19050" cmpd="sng" algn="ctr">
              <a:solidFill>
                <a:schemeClr val="accent3"/>
              </a:solidFill>
              <a:prstDash val="solid"/>
            </a:ln>
          </c:spPr>
          <c:marker>
            <c:symbol val="none"/>
          </c:marker>
          <c:xVal>
            <c:numRef>
              <c:f>Sheet1!$A$1:$E$1</c:f>
              <c:numCache>
                <c:formatCode>General</c:formatCode>
                <c:ptCount val="5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</c:numCache>
            </c:numRef>
          </c:xVal>
          <c:yVal>
            <c:numRef>
              <c:f>Sheet1!$A$6:$E$6</c:f>
              <c:numCache>
                <c:formatCode>General</c:formatCode>
                <c:ptCount val="5"/>
                <c:pt idx="0">
                  <c:v>100</c:v>
                </c:pt>
                <c:pt idx="1">
                  <c:v>150</c:v>
                </c:pt>
                <c:pt idx="2">
                  <c:v>200</c:v>
                </c:pt>
                <c:pt idx="3">
                  <c:v>150</c:v>
                </c:pt>
                <c:pt idx="4">
                  <c:v>250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2-1633-4473-95EB-79CBADFB27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"/>
        <c:axId val="7"/>
      </c:scatterChart>
      <c:valAx>
        <c:axId val="4"/>
        <c:scaling>
          <c:orientation val="minMax"/>
          <c:max val="2028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4"/>
        <c:crosses val="min"/>
        <c:crossBetween val="midCat"/>
        <c:majorUnit val="1"/>
      </c:valAx>
      <c:valAx>
        <c:axId val="6"/>
        <c:scaling>
          <c:orientation val="minMax"/>
          <c:max val="2028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7"/>
        <c:crosses val="min"/>
        <c:crossBetween val="midCat"/>
        <c:majorUnit val="1"/>
      </c:valAx>
      <c:valAx>
        <c:axId val="7"/>
        <c:scaling>
          <c:orientation val="minMax"/>
          <c:max val="25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6"/>
        <c:crosses val="max"/>
        <c:crossBetween val="midCat"/>
        <c:majorUnit val="50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31F81-DE05-4419-BAD6-147949AC167A}" type="datetimeFigureOut">
              <a:rPr lang="nl-NL" smtClean="0"/>
              <a:t>22-7-2026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C31146-7DB8-4E8F-88D9-CE4D9A7FFC8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5682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7.em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7.em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8.jpe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207239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93270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35373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1685123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147382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087024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2550135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811393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71752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5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11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57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141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20049344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2684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tags" Target="../tags/tag30.xml"/><Relationship Id="rId7" Type="http://schemas.openxmlformats.org/officeDocument/2006/relationships/oleObject" Target="../embeddings/oleObject8.bin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.xml"/><Relationship Id="rId9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84092667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44" imgH="344" progId="TCLayout.ActiveDocument.1">
                  <p:embed/>
                </p:oleObj>
              </mc:Choice>
              <mc:Fallback>
                <p:oleObj name="think-cell Slide" r:id="rId7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kumimoji="0" lang="nl-NL" altLang="en-US" sz="1080" b="0" i="0" u="none" strike="noStrike" kern="1200" cap="none" spc="0" normalizeH="0" baseline="0" noProof="0" smtClean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宋体" panose="02010600030101010101" pitchFamily="2" charset="-122"/>
                <a:cs typeface="+mn-cs"/>
              </a:rPr>
              <a:pPr marL="0" marR="0" lvl="0" indent="0" algn="ct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&lt;FigureTitle&gt;</a:t>
            </a:fld>
            <a:endParaRPr kumimoji="0" lang="nl-NL" sz="108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marL="0" marR="0" lvl="0" indent="0" algn="l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794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3DF468-94A5-4653-9839-3CE0E4B7AE20}" type="slidenum">
              <a:rPr kumimoji="0" lang="nl-NL" sz="708" b="0" i="0" u="none" strike="noStrike" kern="1200" cap="none" spc="0" normalizeH="0" baseline="0" noProof="0">
                <a:ln>
                  <a:noFill/>
                </a:ln>
                <a:solidFill>
                  <a:srgbClr val="336A88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708" b="0" i="0" u="none" strike="noStrike" kern="1200" cap="none" spc="0" normalizeH="0" baseline="0" noProof="0" dirty="0">
              <a:ln>
                <a:noFill/>
              </a:ln>
              <a:solidFill>
                <a:srgbClr val="336A88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Resultaten gebaseerd op eigen berekeningen van ahti op basis van niet-openbare CBS microdata van het Centraal Bureau voor de Statistiek</a:t>
            </a: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Bron: CBS; ahti analyses</a:t>
            </a:r>
          </a:p>
        </p:txBody>
      </p:sp>
      <p:graphicFrame>
        <p:nvGraphicFramePr>
          <p:cNvPr id="47" name="Chart 3">
            <a:extLst>
              <a:ext uri="{FF2B5EF4-FFF2-40B4-BE49-F238E27FC236}">
                <a16:creationId xmlns:a16="http://schemas.microsoft.com/office/drawing/2014/main" id="{E4288C67-2059-0332-6930-2E8B0AF758C1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734798946"/>
              </p:ext>
            </p:extLst>
          </p:nvPr>
        </p:nvGraphicFramePr>
        <p:xfrm>
          <a:off x="758825" y="2205038"/>
          <a:ext cx="3844925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06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ANqa.fBgm.MuwLSNq1Uug"/>
</p:tagLst>
</file>

<file path=ppt/theme/theme1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44</Words>
  <Application>Microsoft Office PowerPoint</Application>
  <PresentationFormat>Breedbeeld</PresentationFormat>
  <Paragraphs>9</Paragraphs>
  <Slides>1</Slides>
  <Notes>1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9" baseType="lpstr">
      <vt:lpstr>Aptos</vt:lpstr>
      <vt:lpstr>Arial</vt:lpstr>
      <vt:lpstr>Arial Black</vt:lpstr>
      <vt:lpstr>Calibri</vt:lpstr>
      <vt:lpstr>Century Gothic</vt:lpstr>
      <vt:lpstr>Tahoma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Tijn Schickendantz | ahti</dc:creator>
  <cp:lastModifiedBy>Tijn Schickendantz | ahti</cp:lastModifiedBy>
  <cp:revision>2</cp:revision>
  <dcterms:created xsi:type="dcterms:W3CDTF">2026-07-22T11:04:12Z</dcterms:created>
  <dcterms:modified xsi:type="dcterms:W3CDTF">2026-07-22T11:47:46Z</dcterms:modified>
</cp:coreProperties>
</file>