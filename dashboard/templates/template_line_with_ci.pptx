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2.xml" ContentType="application/vnd.openxmlformats-officedocument.them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324" r:id="rId2"/>
  </p:sldIdLst>
  <p:sldSz cx="12192000" cy="6858000"/>
  <p:notesSz cx="6858000" cy="9144000"/>
  <p:custDataLst>
    <p:tags r:id="rId4"/>
  </p:custData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874293170943888"/>
          <c:y val="5.7777777777777775E-2"/>
          <c:w val="0.78294910830795994"/>
          <c:h val="0.8"/>
        </c:manualLayout>
      </c:layout>
      <c:scatterChart>
        <c:scatterStyle val="lineMarker"/>
        <c:varyColors val="0"/>
        <c:ser>
          <c:idx val="0"/>
          <c:order val="0"/>
          <c:spPr>
            <a:ln w="19050" cmpd="sng" algn="ctr">
              <a:solidFill>
                <a:schemeClr val="accent1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6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5DAB-49EF-ABC5-E0825168994C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5DAB-49EF-ABC5-E0825168994C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5DAB-49EF-ABC5-E0825168994C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5DAB-49EF-ABC5-E0825168994C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5DAB-49EF-ABC5-E0825168994C}"/>
              </c:ext>
            </c:extLst>
          </c:dPt>
          <c:xVal>
            <c:numRef>
              <c:f>Sheet1!$A$1:$E$1</c:f>
              <c:numCache>
                <c:formatCode>General</c:formatCode>
                <c:ptCount val="5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</c:numCache>
            </c:numRef>
          </c:xVal>
          <c:yVal>
            <c:numRef>
              <c:f>Sheet1!$A$2:$E$2</c:f>
              <c:numCache>
                <c:formatCode>General</c:formatCode>
                <c:ptCount val="5"/>
                <c:pt idx="0">
                  <c:v>4.0999999999999996</c:v>
                </c:pt>
                <c:pt idx="1">
                  <c:v>5.3</c:v>
                </c:pt>
                <c:pt idx="2">
                  <c:v>3.2</c:v>
                </c:pt>
                <c:pt idx="3">
                  <c:v>4</c:v>
                </c:pt>
                <c:pt idx="4">
                  <c:v>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5DAB-49EF-ABC5-E0825168994C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none"/>
          </c:marker>
          <c:dPt>
            <c:idx val="0"/>
            <c:marker>
              <c:symbol val="dash"/>
              <c:size val="6"/>
              <c:spPr>
                <a:solidFill>
                  <a:schemeClr val="tx1"/>
                </a:solidFill>
                <a:ln w="9525" cmpd="sng" algn="ctr">
                  <a:solidFill>
                    <a:schemeClr val="tx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5DAB-49EF-ABC5-E0825168994C}"/>
              </c:ext>
            </c:extLst>
          </c:dPt>
          <c:dPt>
            <c:idx val="1"/>
            <c:marker>
              <c:symbol val="dash"/>
              <c:size val="6"/>
              <c:spPr>
                <a:solidFill>
                  <a:schemeClr val="tx1"/>
                </a:solidFill>
                <a:ln w="9525" cmpd="sng" algn="ctr">
                  <a:solidFill>
                    <a:schemeClr val="tx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5DAB-49EF-ABC5-E0825168994C}"/>
              </c:ext>
            </c:extLst>
          </c:dPt>
          <c:dPt>
            <c:idx val="2"/>
            <c:marker>
              <c:symbol val="dash"/>
              <c:size val="6"/>
              <c:spPr>
                <a:solidFill>
                  <a:schemeClr val="tx1"/>
                </a:solidFill>
                <a:ln w="9525" cmpd="sng" algn="ctr">
                  <a:solidFill>
                    <a:schemeClr val="tx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5DAB-49EF-ABC5-E0825168994C}"/>
              </c:ext>
            </c:extLst>
          </c:dPt>
          <c:dPt>
            <c:idx val="3"/>
            <c:marker>
              <c:symbol val="dash"/>
              <c:size val="6"/>
              <c:spPr>
                <a:solidFill>
                  <a:schemeClr val="tx1"/>
                </a:solidFill>
                <a:ln w="9525" cmpd="sng" algn="ctr">
                  <a:solidFill>
                    <a:schemeClr val="tx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5DAB-49EF-ABC5-E0825168994C}"/>
              </c:ext>
            </c:extLst>
          </c:dPt>
          <c:dPt>
            <c:idx val="4"/>
            <c:marker>
              <c:symbol val="dash"/>
              <c:size val="6"/>
              <c:spPr>
                <a:solidFill>
                  <a:schemeClr val="tx1"/>
                </a:solidFill>
                <a:ln w="9525" cmpd="sng" algn="ctr">
                  <a:solidFill>
                    <a:schemeClr val="tx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5DAB-49EF-ABC5-E0825168994C}"/>
              </c:ext>
            </c:extLst>
          </c:dPt>
          <c:xVal>
            <c:numRef>
              <c:f>Sheet1!$A$1:$E$1</c:f>
              <c:numCache>
                <c:formatCode>General</c:formatCode>
                <c:ptCount val="5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</c:numCache>
            </c:numRef>
          </c:xVal>
          <c:yVal>
            <c:numRef>
              <c:f>Sheet1!$A$3:$E$3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  <c:pt idx="4">
                  <c:v>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5DAB-49EF-ABC5-E0825168994C}"/>
            </c:ext>
          </c:extLst>
        </c:ser>
        <c:ser>
          <c:idx val="2"/>
          <c:order val="2"/>
          <c:spPr>
            <a:ln>
              <a:noFill/>
            </a:ln>
          </c:spPr>
          <c:marker>
            <c:symbol val="none"/>
          </c:marker>
          <c:dPt>
            <c:idx val="0"/>
            <c:marker>
              <c:symbol val="dash"/>
              <c:size val="6"/>
              <c:spPr>
                <a:solidFill>
                  <a:schemeClr val="tx1"/>
                </a:solidFill>
                <a:ln w="9525" cmpd="sng" algn="ctr">
                  <a:solidFill>
                    <a:schemeClr val="tx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5DAB-49EF-ABC5-E0825168994C}"/>
              </c:ext>
            </c:extLst>
          </c:dPt>
          <c:dPt>
            <c:idx val="1"/>
            <c:marker>
              <c:symbol val="dash"/>
              <c:size val="6"/>
              <c:spPr>
                <a:solidFill>
                  <a:schemeClr val="tx1"/>
                </a:solidFill>
                <a:ln w="9525" cmpd="sng" algn="ctr">
                  <a:solidFill>
                    <a:schemeClr val="tx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5DAB-49EF-ABC5-E0825168994C}"/>
              </c:ext>
            </c:extLst>
          </c:dPt>
          <c:dPt>
            <c:idx val="2"/>
            <c:marker>
              <c:symbol val="dash"/>
              <c:size val="6"/>
              <c:spPr>
                <a:solidFill>
                  <a:schemeClr val="tx1"/>
                </a:solidFill>
                <a:ln w="9525" cmpd="sng" algn="ctr">
                  <a:solidFill>
                    <a:schemeClr val="tx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5DAB-49EF-ABC5-E0825168994C}"/>
              </c:ext>
            </c:extLst>
          </c:dPt>
          <c:dPt>
            <c:idx val="3"/>
            <c:marker>
              <c:symbol val="dash"/>
              <c:size val="6"/>
              <c:spPr>
                <a:solidFill>
                  <a:schemeClr val="tx1"/>
                </a:solidFill>
                <a:ln w="9525" cmpd="sng" algn="ctr">
                  <a:solidFill>
                    <a:schemeClr val="tx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5DAB-49EF-ABC5-E0825168994C}"/>
              </c:ext>
            </c:extLst>
          </c:dPt>
          <c:dPt>
            <c:idx val="4"/>
            <c:marker>
              <c:symbol val="dash"/>
              <c:size val="6"/>
              <c:spPr>
                <a:solidFill>
                  <a:schemeClr val="tx1"/>
                </a:solidFill>
                <a:ln w="9525" cmpd="sng" algn="ctr">
                  <a:solidFill>
                    <a:schemeClr val="tx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5DAB-49EF-ABC5-E0825168994C}"/>
              </c:ext>
            </c:extLst>
          </c:dPt>
          <c:errBars>
            <c:errDir val="y"/>
            <c:errBarType val="plus"/>
            <c:errValType val="cust"/>
            <c:noEndCap val="1"/>
            <c:plus>
              <c:numRef>
                <c:f>Sheet1!$A$4:$E$4</c:f>
                <c:numCache>
                  <c:formatCode>General</c:formatCode>
                  <c:ptCount val="5"/>
                  <c:pt idx="0">
                    <c:v>-2</c:v>
                  </c:pt>
                  <c:pt idx="1">
                    <c:v>-2</c:v>
                  </c:pt>
                  <c:pt idx="2">
                    <c:v>-2</c:v>
                  </c:pt>
                  <c:pt idx="3">
                    <c:v>-2</c:v>
                  </c:pt>
                  <c:pt idx="4">
                    <c:v>-2</c:v>
                  </c:pt>
                </c:numCache>
              </c:numRef>
            </c:plus>
            <c:spPr>
              <a:ln w="9525" cmpd="sng" algn="ctr">
                <a:solidFill>
                  <a:schemeClr val="tx1"/>
                </a:solidFill>
                <a:prstDash val="solid"/>
              </a:ln>
            </c:spPr>
          </c:errBars>
          <c:xVal>
            <c:numRef>
              <c:f>Sheet1!$A$1:$E$1</c:f>
              <c:numCache>
                <c:formatCode>General</c:formatCode>
                <c:ptCount val="5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</c:numCache>
            </c:numRef>
          </c:xVal>
          <c:yVal>
            <c:numRef>
              <c:f>Sheet1!$A$5:$E$5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4</c:v>
                </c:pt>
                <c:pt idx="3">
                  <c:v>5</c:v>
                </c:pt>
                <c:pt idx="4">
                  <c:v>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1-5DAB-49EF-ABC5-E082516899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8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8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4"/>
        <c:crosses val="min"/>
        <c:crossBetween val="midCat"/>
        <c:majorUnit val="1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31F81-DE05-4419-BAD6-147949AC167A}" type="datetimeFigureOut">
              <a:rPr lang="nl-NL" smtClean="0"/>
              <a:t>22-7-2026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C31146-7DB8-4E8F-88D9-CE4D9A7FFC8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5682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725A-8C23-A0D7-DC0F-EB076F5A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29DB4F1-C0AE-4571-8359-06152E14F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EFE500F-166F-202F-C0F1-F63CD5265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Voortbordurend op de eerste uitwerking – aantallen MSZ zorg en aantallen nieuwe MSZ zorg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03EF5EB-4F2C-4127-DE23-D94F6A402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FFBBD1-FE09-4B6F-A3CC-AB37AEF4DE46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alt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513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7.emf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7.emf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8.jpeg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6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7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152908A-8DD9-EB21-D479-4236FF2AC7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010832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52908A-8DD9-EB21-D479-4236FF2AC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27" b="1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4" y="2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39591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0841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5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5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1" dirty="0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55">
                <a:solidFill>
                  <a:schemeClr val="accent2"/>
                </a:solidFill>
                <a:latin typeface="+mn-lt"/>
              </a:defRPr>
            </a:lvl1pPr>
            <a:lvl2pPr>
              <a:defRPr sz="2355"/>
            </a:lvl2pPr>
            <a:lvl3pPr>
              <a:defRPr sz="2355"/>
            </a:lvl3pPr>
            <a:lvl4pPr>
              <a:defRPr sz="2355"/>
            </a:lvl4pPr>
            <a:lvl5pPr>
              <a:defRPr sz="2355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072397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o not remove" hidden="1">
            <a:extLst>
              <a:ext uri="{FF2B5EF4-FFF2-40B4-BE49-F238E27FC236}">
                <a16:creationId xmlns:a16="http://schemas.microsoft.com/office/drawing/2014/main" id="{BCEF58F7-93C1-0017-28D7-1D6DA445AD6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715066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916113"/>
            <a:ext cx="10354204" cy="419635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93270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 not remove" hidden="1">
            <a:extLst>
              <a:ext uri="{FF2B5EF4-FFF2-40B4-BE49-F238E27FC236}">
                <a16:creationId xmlns:a16="http://schemas.microsoft.com/office/drawing/2014/main" id="{82B9CFF0-AB35-B0AB-11FC-BC33F517261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7163520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35373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58F948D-D74C-6309-92C5-780970FA00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142355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8F948D-D74C-6309-92C5-780970FA00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1" y="1376328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5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1685123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850749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0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6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47382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548767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8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2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5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087024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518902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1" y="3200401"/>
            <a:ext cx="8229600" cy="521677"/>
          </a:xfrm>
        </p:spPr>
        <p:txBody>
          <a:bodyPr>
            <a:noAutofit/>
          </a:bodyPr>
          <a:lstStyle>
            <a:lvl1pPr marL="512731" indent="-512731" rtl="0">
              <a:buFont typeface="+mj-lt"/>
              <a:buAutoNum type="alphaUcPeriod"/>
              <a:defRPr sz="1994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4314" indent="-512731" rtl="0">
              <a:buFont typeface="+mj-lt"/>
              <a:buAutoNum type="arabicPeriod"/>
              <a:defRPr sz="1994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dirty="0" err="1"/>
              <a:t>Section</a:t>
            </a:r>
            <a:r>
              <a:rPr lang="nl-NL" dirty="0"/>
              <a:t> topic</a:t>
            </a:r>
          </a:p>
          <a:p>
            <a:pPr lvl="1"/>
            <a:r>
              <a:rPr lang="nl-NL" dirty="0" err="1"/>
              <a:t>Subsection</a:t>
            </a:r>
            <a:r>
              <a:rPr lang="nl-NL" dirty="0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2550135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360667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 userDrawn="1"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 userDrawn="1"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 userDrawn="1"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 userDrawn="1"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 userDrawn="1"/>
        </p:nvGrpSpPr>
        <p:grpSpPr>
          <a:xfrm>
            <a:off x="1050780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811393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269983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271752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837CC97-F51A-19D7-9882-262A7B4138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210739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37CC97-F51A-19D7-9882-262A7B4138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65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913164A-7F57-F0E7-C1B1-2693D8A558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933797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13164A-7F57-F0E7-C1B1-2693D8A55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111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89919BE-E179-24AA-810D-60F13030E1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444868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9919BE-E179-24AA-810D-60F13030E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557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3FB3BC45-9012-570C-1D9D-4E041A212FD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B9CD8A5-7112-B8A7-3A31-CA02C149A2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882576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9CD8A5-7112-B8A7-3A31-CA02C149A2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FA6B924-BBD8-83F0-4CD9-27B9086D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C88D9F-F8EA-2801-F0D5-D08FD7C00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3EA3613-3367-B754-C24F-066FC1C260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A32D667-F50F-D678-F9CC-A32761100D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141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5" name="Footer Placeholder 4 [SS]" hidden="1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08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08">
                <a:solidFill>
                  <a:schemeClr val="accent2"/>
                </a:solidFill>
                <a:latin typeface="+mj-lt"/>
              </a:defRPr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08" dirty="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0049344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622" imgH="623" progId="TCLayout.ActiveDocument.1">
                  <p:embed/>
                </p:oleObj>
              </mc:Choice>
              <mc:Fallback>
                <p:oleObj name="think-cell Slide" r:id="rId17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 userDrawn="1"/>
        </p:nvSpPr>
        <p:spPr bwMode="auto">
          <a:xfrm>
            <a:off x="10909451" y="97066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 userDrawn="1"/>
        </p:nvSpPr>
        <p:spPr bwMode="auto">
          <a:xfrm>
            <a:off x="199118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 userDrawn="1"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997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 userDrawn="1"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22684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dt="0"/>
  <p:txStyles>
    <p:titleStyle>
      <a:lvl1pPr algn="l" defTabSz="908419" rtl="0" eaLnBrk="1" latinLnBrk="0" hangingPunct="1">
        <a:lnSpc>
          <a:spcPct val="110000"/>
        </a:lnSpc>
        <a:spcBef>
          <a:spcPct val="0"/>
        </a:spcBef>
        <a:buNone/>
        <a:defRPr sz="2393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1439" indent="-241439" algn="l" defTabSz="908419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9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1pPr>
      <a:lvl2pPr marL="751147" indent="-187787" algn="l" defTabSz="908419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20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08419" rtl="0" eaLnBrk="1" latinLnBrk="0" hangingPunct="1">
        <a:lnSpc>
          <a:spcPct val="125000"/>
        </a:lnSpc>
        <a:spcBef>
          <a:spcPts val="1341"/>
        </a:spcBef>
        <a:buFont typeface="Arial" panose="020B0604020202020204" pitchFamily="34" charset="0"/>
        <a:buNone/>
        <a:defRPr sz="1595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5pPr>
      <a:lvl6pPr marL="2498152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95236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40657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86078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1pPr>
      <a:lvl2pPr marL="45420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2pPr>
      <a:lvl3pPr marL="90841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3pPr>
      <a:lvl4pPr marL="136262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4pPr>
      <a:lvl5pPr marL="181683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5pPr>
      <a:lvl6pPr marL="227104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72525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17946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63367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7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30.xml"/><Relationship Id="rId7" Type="http://schemas.openxmlformats.org/officeDocument/2006/relationships/oleObject" Target="../embeddings/oleObject8.bin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1.xml"/><Relationship Id="rId9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730B-72FE-97E3-C04A-08BC01EC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3A12E9B-E7D8-84C8-C966-4DCD1A2EE60A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74394482"/>
              </p:ext>
            </p:extLst>
          </p:nvPr>
        </p:nvGraphicFramePr>
        <p:xfrm>
          <a:off x="1160258" y="12435"/>
          <a:ext cx="1583" cy="1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3A12E9B-E7D8-84C8-C966-4DCD1A2EE6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60258" y="12435"/>
                        <a:ext cx="1583" cy="1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87" name="Rectangle 3">
            <a:extLst>
              <a:ext uri="{FF2B5EF4-FFF2-40B4-BE49-F238E27FC236}">
                <a16:creationId xmlns:a16="http://schemas.microsoft.com/office/drawing/2014/main" id="{FF682C28-4AB2-32E8-A402-0AC0F194E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28" y="1293032"/>
            <a:ext cx="4907523" cy="455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15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B03AEA-9DFB-426C-B997-58C7B1625485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FigureTitle&lt;/m_strName&gt;&lt;/PersistentType&gt;&lt;/root&gt;">
              <a:rPr kumimoji="0" lang="nl-NL" altLang="en-US" sz="1080" b="0" i="0" u="none" strike="noStrike" kern="1200" cap="none" spc="0" normalizeH="0" baseline="0" noProof="0" smtClean="0">
                <a:ln>
                  <a:noFill/>
                </a:ln>
                <a:solidFill>
                  <a:srgbClr val="20153E"/>
                </a:solidFill>
                <a:effectLst/>
                <a:uLnTx/>
                <a:uFillTx/>
                <a:latin typeface="Tahoma"/>
                <a:ea typeface="宋体" panose="02010600030101010101" pitchFamily="2" charset="-122"/>
                <a:cs typeface="+mn-cs"/>
              </a:rPr>
              <a:pPr marL="0" marR="0" lvl="0" indent="0" algn="ctr" defTabSz="9115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&lt;FigureTitle&gt;</a:t>
            </a:fld>
            <a:endParaRPr kumimoji="0" lang="nl-NL" sz="1080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88" name="Rectangle 4">
            <a:extLst>
              <a:ext uri="{FF2B5EF4-FFF2-40B4-BE49-F238E27FC236}">
                <a16:creationId xmlns:a16="http://schemas.microsoft.com/office/drawing/2014/main" id="{E38F2E86-6560-4284-9CCB-1404686F38E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42928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152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395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93" name="Line 9">
            <a:extLst>
              <a:ext uri="{FF2B5EF4-FFF2-40B4-BE49-F238E27FC236}">
                <a16:creationId xmlns:a16="http://schemas.microsoft.com/office/drawing/2014/main" id="{5C0C6849-D710-6A71-0D1E-638B7DE5D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958874" y="1778010"/>
            <a:ext cx="4891578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886" tIns="35886" rIns="35886" bIns="35886"/>
          <a:lstStyle/>
          <a:p>
            <a:pPr marL="0" marR="0" lvl="0" indent="0" algn="l" defTabSz="9115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794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149193EF-B81F-92F4-0ED7-8DD60D7F47D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356844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152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395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18BF21-B09B-F996-0D14-D69E42FF8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30" y="485594"/>
            <a:ext cx="10321437" cy="599475"/>
          </a:xfrm>
        </p:spPr>
        <p:txBody>
          <a:bodyPr vert="horz" rIns="0"/>
          <a:lstStyle/>
          <a:p>
            <a:fld id="{10FF4802-32EA-4528-8D07-D81F9A824BC0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SlideTitle&lt;/m_strName&gt;&lt;/PersistentType&gt;&lt;/root&gt;">
              <a:rPr lang="nl-NL" altLang="en-US" smtClean="0">
                <a:effectLst/>
              </a:rPr>
              <a:pPr/>
              <a:t>&lt;SlideTitle&gt;</a:t>
            </a:fld>
            <a:endParaRPr lang="nl-NL" noProof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EDE7B5B-EFC7-688F-5C55-78293C55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15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3DF468-94A5-4653-9839-3CE0E4B7AE20}" type="slidenum">
              <a:rPr kumimoji="0" lang="nl-NL" sz="708" b="0" i="0" u="none" strike="noStrike" kern="1200" cap="none" spc="0" normalizeH="0" baseline="0" noProof="0">
                <a:ln>
                  <a:noFill/>
                </a:ln>
                <a:solidFill>
                  <a:srgbClr val="336A88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pPr marL="0" marR="0" lvl="0" indent="0" algn="r" defTabSz="9115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sz="708" b="0" i="0" u="none" strike="noStrike" kern="1200" cap="none" spc="0" normalizeH="0" baseline="0" noProof="0" dirty="0">
              <a:ln>
                <a:noFill/>
              </a:ln>
              <a:solidFill>
                <a:srgbClr val="336A88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70061" name="Voettekst [SS]">
            <a:extLst>
              <a:ext uri="{FF2B5EF4-FFF2-40B4-BE49-F238E27FC236}">
                <a16:creationId xmlns:a16="http://schemas.microsoft.com/office/drawing/2014/main" id="{4757CAC0-1821-A0A0-88AA-664871B1E45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82274" y="6525249"/>
            <a:ext cx="8373220" cy="184764"/>
          </a:xfrm>
          <a:prstGeom prst="rect">
            <a:avLst/>
          </a:prstGeom>
        </p:spPr>
        <p:txBody>
          <a:bodyPr anchor="b"/>
          <a:lstStyle/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540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540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40" b="0" i="0" u="none" strike="noStrike" kern="1200" cap="none" spc="0" normalizeH="0" baseline="0" noProof="0" dirty="0">
                <a:ln>
                  <a:noFill/>
                </a:ln>
                <a:solidFill>
                  <a:srgbClr val="20153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Resultaten gebaseerd op eigen berekeningen van ahti op basis van niet-openbare CBS microdata van het Centraal Bureau voor de Statistiek</a:t>
            </a:r>
          </a:p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40" b="0" i="0" u="none" strike="noStrike" kern="1200" cap="none" spc="0" normalizeH="0" baseline="0" noProof="0" dirty="0">
                <a:ln>
                  <a:noFill/>
                </a:ln>
                <a:solidFill>
                  <a:srgbClr val="20153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Bron: CBS; ahti analyses</a:t>
            </a:r>
          </a:p>
        </p:txBody>
      </p:sp>
      <p:graphicFrame>
        <p:nvGraphicFramePr>
          <p:cNvPr id="36" name="Chart 3">
            <a:extLst>
              <a:ext uri="{FF2B5EF4-FFF2-40B4-BE49-F238E27FC236}">
                <a16:creationId xmlns:a16="http://schemas.microsoft.com/office/drawing/2014/main" id="{F7A41F76-7C69-4572-C09A-F3304F16CC1E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791496059"/>
              </p:ext>
            </p:extLst>
          </p:nvPr>
        </p:nvGraphicFramePr>
        <p:xfrm>
          <a:off x="758825" y="2205038"/>
          <a:ext cx="3649663" cy="3571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226722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06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LIDE" val="MLNK9a987123cb1741ffaec7630a91151a0c"/>
  <p:tag name="MACABACUSLINK" val="&lt;Links vendor=&quot;Macabacus&quot;&gt;&lt;Link version=&quot;9.7.2.0&quot;&gt;&lt;Source&gt;&lt;![CDATA[%USER_FOLDER%\OneDrive\Documenten\Macabacus\Personal Library\Slides\de764d\adff09.pptx]]&gt;&lt;/Source&gt;&lt;SourceModified&gt;2022-04-11 08:20:27&lt;/SourceModified&gt;&lt;ParentId&gt;&lt;/ParentId&gt;&lt;LinkId&gt;c2e7935aebb65005&lt;/LinkId&gt;&lt;FriendlyName&gt;&lt;/FriendlyName&gt;&lt;Type&gt;10&lt;/Type&gt;&lt;Address&gt;&lt;/Address&gt;&lt;LastUpdate&gt;2025-01-10 12:02:57&lt;/LastUpdate&gt;&lt;User&gt;&lt;/User&gt;&lt;SourceFormat&gt;True&lt;/SourceFormat&gt;&lt;/Link&gt;&lt;/Links&gt;"/>
  <p:tag name="MACABACUS_LIB_CONTENT" val="&lt;LibraryInfo vendor=&quot;Macabacus&quot; version=&quot;9.7.2.0&quot;&gt;&lt;LibraryId&gt;&lt;/LibraryId&gt;&lt;Permission&gt;0&lt;/Permission&gt;&lt;ContentPath&gt;&lt;![CDATA[%USER_FOLDER%\OneDrive\Documenten\Macabacus\Personal Library\Slides\de764d\adff09.pptx]]&gt;&lt;/ContentPath&gt;&lt;ContentType&gt;1&lt;/ContentType&gt;&lt;ContentId&gt;c2e7935aebb65005&lt;/ContentId&gt;&lt;Title&gt;Slide89&lt;/Title&gt;&lt;CurrentVersion&gt;1&lt;/CurrentVersion&gt;&lt;IgnoredVersion /&gt;&lt;KeepSrcFormatting&gt;True&lt;/KeepSrcFormatting&gt;&lt;ModifiedAt&gt;2025-01-10 11:02:56&lt;/ModifiedAt&gt;&lt;ModifiedBy&gt;Marcel Geurts&lt;/ModifiedBy&gt;&lt;/Library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_ID" val="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ANqa.fBgm.MuwLSNq1Uug"/>
</p:tagLst>
</file>

<file path=ppt/theme/theme1.xml><?xml version="1.0" encoding="utf-8"?>
<a:theme xmlns:a="http://schemas.openxmlformats.org/drawingml/2006/main" name="1_Kantoorthema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87e4a9" id="{B42F9BC7-6A4E-4EC7-8E39-8D9E47F27A24}" vid="{7E086959-777A-4B15-A920-91B878EEEB25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44</Words>
  <Application>Microsoft Office PowerPoint</Application>
  <PresentationFormat>Breedbeeld</PresentationFormat>
  <Paragraphs>9</Paragraphs>
  <Slides>1</Slides>
  <Notes>1</Notes>
  <HiddenSlides>0</HiddenSlides>
  <MMClips>0</MMClips>
  <ScaleCrop>false</ScaleCrop>
  <HeadingPairs>
    <vt:vector size="8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Ingesloten OLE-bronprogramma's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9" baseType="lpstr">
      <vt:lpstr>Aptos</vt:lpstr>
      <vt:lpstr>Arial</vt:lpstr>
      <vt:lpstr>Arial Black</vt:lpstr>
      <vt:lpstr>Calibri</vt:lpstr>
      <vt:lpstr>Century Gothic</vt:lpstr>
      <vt:lpstr>Tahoma</vt:lpstr>
      <vt:lpstr>1_Kantoorthema</vt:lpstr>
      <vt:lpstr>think-cell Slide</vt:lpstr>
      <vt:lpstr>&lt;SlideTitle&gt;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Tijn Schickendantz | ahti</dc:creator>
  <cp:lastModifiedBy>Tijn Schickendantz | ahti</cp:lastModifiedBy>
  <cp:revision>1</cp:revision>
  <dcterms:created xsi:type="dcterms:W3CDTF">2026-07-22T11:04:12Z</dcterms:created>
  <dcterms:modified xsi:type="dcterms:W3CDTF">2026-07-22T11:32:09Z</dcterms:modified>
</cp:coreProperties>
</file>