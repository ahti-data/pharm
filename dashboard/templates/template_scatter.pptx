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324" r:id="rId2"/>
  </p:sldIdLst>
  <p:sldSz cx="12192000" cy="6858000"/>
  <p:notesSz cx="6858000" cy="9144000"/>
  <p:custDataLst>
    <p:tags r:id="rId4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680851063829786"/>
          <c:y val="5.7777777777777775E-2"/>
          <c:w val="0.76595744680851063"/>
          <c:h val="0.8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6"/>
            <c:spPr>
              <a:solidFill>
                <a:schemeClr val="accent1"/>
              </a:solidFill>
              <a:ln w="9525" cmpd="sng" algn="ctr">
                <a:solidFill>
                  <a:schemeClr val="accent1"/>
                </a:solidFill>
                <a:prstDash val="solid"/>
              </a:ln>
            </c:spPr>
          </c:marker>
          <c:xVal>
            <c:numRef>
              <c:f>Sheet1!$A$1:$A$6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2.5</c:v>
                </c:pt>
              </c:numCache>
            </c:numRef>
          </c:xVal>
          <c:yVal>
            <c:numRef>
              <c:f>Sheet1!$B$1:$B$6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0DD-4F64-96B7-CE95E2DF6A4E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6"/>
            <c:spPr>
              <a:solidFill>
                <a:schemeClr val="accent2"/>
              </a:solidFill>
              <a:ln w="9525" cmpd="sng" algn="ctr">
                <a:solidFill>
                  <a:schemeClr val="accent2"/>
                </a:solidFill>
                <a:prstDash val="solid"/>
              </a:ln>
            </c:spPr>
          </c:marker>
          <c:xVal>
            <c:numRef>
              <c:f>Sheet1!$A$1:$A$6</c:f>
              <c:numCache>
                <c:formatCode>General</c:formatCode>
                <c:ptCount val="6"/>
                <c:pt idx="3">
                  <c:v>1.5</c:v>
                </c:pt>
                <c:pt idx="4">
                  <c:v>2</c:v>
                </c:pt>
                <c:pt idx="5">
                  <c:v>3</c:v>
                </c:pt>
              </c:numCache>
            </c:numRef>
          </c:xVal>
          <c:yVal>
            <c:numRef>
              <c:f>Sheet1!$C$1:$C$6</c:f>
              <c:numCache>
                <c:formatCode>General</c:formatCode>
                <c:ptCount val="6"/>
                <c:pt idx="3">
                  <c:v>2</c:v>
                </c:pt>
                <c:pt idx="4">
                  <c:v>4</c:v>
                </c:pt>
                <c:pt idx="5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0DD-4F64-96B7-CE95E2DF6A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865631"/>
        <c:axId val="1"/>
      </c:scatterChart>
      <c:valAx>
        <c:axId val="114865631"/>
        <c:scaling>
          <c:orientation val="minMax"/>
          <c:max val="3"/>
          <c:min val="0"/>
        </c:scaling>
        <c:delete val="0"/>
        <c:axPos val="b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1"/>
        <c:crosses val="min"/>
        <c:crossBetween val="midCat"/>
        <c:majorUnit val="0.5"/>
      </c:valAx>
      <c:valAx>
        <c:axId val="1"/>
        <c:scaling>
          <c:orientation val="minMax"/>
          <c:max val="4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114865631"/>
        <c:crosses val="min"/>
        <c:crossBetween val="midCat"/>
        <c:majorUnit val="0.5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B2DD5A-766B-4E5B-8C4B-30778AE4AEF3}" type="datetimeFigureOut">
              <a:rPr lang="nl-NL" smtClean="0"/>
              <a:t>20-7-2026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636B7B-821C-4888-BE2C-F079E59E5FC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8005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725A-8C23-A0D7-DC0F-EB076F5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29DB4F1-C0AE-4571-8359-06152E14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FE500F-166F-202F-C0F1-F63CD526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3EF5EB-4F2C-4127-DE23-D94F6A40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5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7.em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7.em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8.jpe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176927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881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271780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1902801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04272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578095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94435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694915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58938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6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05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543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4665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05738199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0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2.png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chart" Target="../charts/chart1.xml"/><Relationship Id="rId2" Type="http://schemas.openxmlformats.org/officeDocument/2006/relationships/tags" Target="../tags/tag29.xml"/><Relationship Id="rId16" Type="http://schemas.openxmlformats.org/officeDocument/2006/relationships/image" Target="../media/image11.emf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7.xml"/><Relationship Id="rId19" Type="http://schemas.openxmlformats.org/officeDocument/2006/relationships/image" Target="../media/image3.png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730B-72FE-97E3-C04A-08BC01EC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A12E9B-E7D8-84C8-C966-4DCD1A2EE6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26883308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44" imgH="344" progId="TCLayout.ActiveDocument.1">
                  <p:embed/>
                </p:oleObj>
              </mc:Choice>
              <mc:Fallback>
                <p:oleObj name="think-cell Slide" r:id="rId15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A12E9B-E7D8-84C8-C966-4DCD1A2EE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FF682C28-4AB2-32E8-A402-0AC0F194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kumimoji="0" lang="nl-NL" altLang="en-US" sz="1080" b="0" i="0" u="none" strike="noStrike" kern="1200" cap="none" spc="0" normalizeH="0" baseline="0" noProof="0" smtClean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宋体" panose="02010600030101010101" pitchFamily="2" charset="-122"/>
                <a:cs typeface="+mn-cs"/>
              </a:rPr>
              <a:pPr marL="0" marR="0" lvl="0" indent="0" algn="ct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&lt;FigureTitle&gt;</a:t>
            </a:fld>
            <a:endParaRPr kumimoji="0" lang="nl-NL" sz="108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E38F2E86-6560-4284-9CCB-1404686F38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5C0C6849-D710-6A71-0D1E-638B7DE5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marL="0" marR="0" lvl="0" indent="0" algn="l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794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49193EF-B81F-92F4-0ED7-8DD60D7F47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18BF21-B09B-F996-0D14-D69E42FF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DE7B5B-EFC7-688F-5C55-78293C55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3DF468-94A5-4653-9839-3CE0E4B7AE20}" type="slidenum">
              <a:rPr kumimoji="0" lang="nl-NL" sz="708" b="0" i="0" u="none" strike="noStrike" kern="1200" cap="none" spc="0" normalizeH="0" baseline="0" noProof="0">
                <a:ln>
                  <a:noFill/>
                </a:ln>
                <a:solidFill>
                  <a:srgbClr val="336A88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708" b="0" i="0" u="none" strike="noStrike" kern="1200" cap="none" spc="0" normalizeH="0" baseline="0" noProof="0" dirty="0">
              <a:ln>
                <a:noFill/>
              </a:ln>
              <a:solidFill>
                <a:srgbClr val="336A88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4757CAC0-1821-A0A0-88AA-664871B1E4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Resultaten gebaseerd op eigen berekeningen van ahti op basis van niet-openbare CBS microdata van het Centraal Bureau voor de Statistiek</a:t>
            </a: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Bron: CBS; ahti analyses</a:t>
            </a:r>
          </a:p>
        </p:txBody>
      </p:sp>
      <p:graphicFrame>
        <p:nvGraphicFramePr>
          <p:cNvPr id="20" name="Chart 3">
            <a:extLst>
              <a:ext uri="{FF2B5EF4-FFF2-40B4-BE49-F238E27FC236}">
                <a16:creationId xmlns:a16="http://schemas.microsoft.com/office/drawing/2014/main" id="{AC664DF7-7D97-B748-B1F6-4057D1DA5914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184078974"/>
              </p:ext>
            </p:extLst>
          </p:nvPr>
        </p:nvGraphicFramePr>
        <p:xfrm>
          <a:off x="835025" y="2506663"/>
          <a:ext cx="3730625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EFFD981-2BDA-C4ED-0359-B1F4392F4981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4505325" y="5438775"/>
            <a:ext cx="47307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8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5552DA3A-9B72-4418-B49D-12EE35C2DF38}" type="datetime'''''''''''''''X ''''''''''''A''x''''''''i''''''''''''s'''''''">
              <a:rPr lang="nl-NL" altLang="en-US" smtClean="0">
                <a:effectLst/>
              </a:rPr>
              <a:pPr/>
              <a:t>X Axis</a:t>
            </a:fld>
            <a:endParaRPr lang="nl-NL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628B4D6-4BC0-387F-373A-8F95EBC364EE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147763" y="2162175"/>
            <a:ext cx="471488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8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6192058-DD38-4FEB-966E-567E3C2E49D8}" type="datetime'''''''Y'' ''A''''''''x''''''''is''''''''''''''''''''''''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Y Axis</a:t>
            </a:fld>
            <a:endParaRPr lang="nl-NL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84F1D41-0696-8E18-42E7-48A6A0C5FC84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101850" y="4200525"/>
            <a:ext cx="46672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8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9ACD3C5F-56E0-4A66-A4FF-4C650E9078D8}" type="datetime'L''''''a''''b''e''''''''''''''''''''l'">
              <a:rPr lang="nl-NL" altLang="en-US" smtClean="0">
                <a:effectLst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nl-NL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6ECC002-FD2A-30CA-487E-7525AE0ADD1A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3054350" y="3486150"/>
            <a:ext cx="46672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8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5BEB8DFD-30EF-4776-ADF1-305E9A49E13F}" type="datetime'''''''''''La''b''''''''''''''''''''''''''''''e''''''''''''''l'">
              <a:rPr lang="nl-NL" altLang="en-US" smtClean="0">
                <a:effectLst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nl-NL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FE1D3B-6282-B9DE-ED31-6B4BA3FC9D6F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530600" y="4129088"/>
            <a:ext cx="46672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8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83C2E667-6B6D-432F-9280-E9A56421815F}" type="datetime'L''''''''''ab''''''''''''e''''''l'''''">
              <a:rPr lang="nl-NL" altLang="en-US" smtClean="0">
                <a:effectLst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nl-NL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70AC2A3-F79C-91DE-4E73-787567C3AA3C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2870200" y="4010025"/>
            <a:ext cx="46672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8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119F2BD8-D1FA-4383-9BD8-D9B562D9D975}" type="datetime'''''''''L''''''''''''''a''b''''''''e''l'''''''''''''''''">
              <a:rPr lang="nl-NL" altLang="en-US" smtClean="0">
                <a:effectLst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nl-NL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4C4CED-0904-4A03-8460-A5B2300A98F6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3054350" y="2771775"/>
            <a:ext cx="46672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8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92FA6F8B-D01C-4856-B455-1243DCC2AC86}" type="datetime'''''''''''''''L''''''''''''''''''a''''''''be''l'''''''">
              <a:rPr lang="nl-NL" altLang="en-US" smtClean="0">
                <a:effectLst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nl-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AA06BB4-D976-DAB7-C534-FA44E6C13299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3714750" y="3295650"/>
            <a:ext cx="46672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8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9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2063BCE5-E142-4009-851F-1550217E3BF8}" type="datetime'''L''''''''''''''a''''b''e''''''''''''l'''''''''''">
              <a:rPr lang="nl-NL" altLang="en-US" smtClean="0">
                <a:effectLst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nl-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67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04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Percent&gt;&lt;m_precDefaultDate&gt;&lt;m_bNumberIsYear val=&quot;0&quot;/&gt;&lt;m_strFormatTime&gt;%#d-%#m-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0Vw.POtIQe0EWwwEGk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uEY8PCaV7uSA_tK2vV0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gW1uLMusxSdBylp9sl_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Ah8IlPd3FgsxOBHP9E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GpZEZB4OdjaPjfY5wxnH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h3XhWwp5JxuG0SSo5Zgy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0gBkl.MrbBOqebookr0d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nQM8Fk3Y1hC4k0vqBgR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7AC5TL0lZX0l.iq5wDe.w"/>
</p:tagLst>
</file>

<file path=ppt/theme/theme1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</Words>
  <Application>Microsoft Office PowerPoint</Application>
  <PresentationFormat>Breedbeeld</PresentationFormat>
  <Paragraphs>17</Paragraphs>
  <Slides>1</Slides>
  <Notes>1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9" baseType="lpstr">
      <vt:lpstr>Aptos</vt:lpstr>
      <vt:lpstr>Arial</vt:lpstr>
      <vt:lpstr>Arial Black</vt:lpstr>
      <vt:lpstr>Calibri</vt:lpstr>
      <vt:lpstr>Century Gothic</vt:lpstr>
      <vt:lpstr>Tahoma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Tijn Schickendantz | ahti</dc:creator>
  <cp:lastModifiedBy>Tijn Schickendantz | ahti</cp:lastModifiedBy>
  <cp:revision>1</cp:revision>
  <dcterms:created xsi:type="dcterms:W3CDTF">2026-07-20T14:56:17Z</dcterms:created>
  <dcterms:modified xsi:type="dcterms:W3CDTF">2026-07-20T14:59:14Z</dcterms:modified>
</cp:coreProperties>
</file>